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6" r:id="rId10"/>
    <p:sldId id="267" r:id="rId11"/>
    <p:sldId id="270" r:id="rId12"/>
    <p:sldId id="271" r:id="rId13"/>
    <p:sldId id="272" r:id="rId14"/>
    <p:sldId id="273" r:id="rId15"/>
    <p:sldId id="274" r:id="rId16"/>
    <p:sldId id="264" r:id="rId17"/>
    <p:sldId id="265" r:id="rId18"/>
  </p:sldIdLst>
  <p:sldSz cx="9144000" cy="5143500" type="screen16x9"/>
  <p:notesSz cx="6858000" cy="9144000"/>
  <p:embeddedFontLst>
    <p:embeddedFont>
      <p:font typeface="Montserrat" pitchFamily="2" charset="77"/>
      <p:regular r:id="rId20"/>
      <p:bold r:id="rId21"/>
      <p:italic r:id="rId22"/>
      <p:boldItalic r:id="rId23"/>
    </p:embeddedFont>
    <p:embeddedFont>
      <p:font typeface="Roboto"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06"/>
    <p:restoredTop sz="94741"/>
  </p:normalViewPr>
  <p:slideViewPr>
    <p:cSldViewPr snapToGrid="0">
      <p:cViewPr varScale="1">
        <p:scale>
          <a:sx n="152" d="100"/>
          <a:sy n="152" d="100"/>
        </p:scale>
        <p:origin x="808"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e29c9da6c5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e29c9da6c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e29c9da6c5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e29c9da6c5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e29c9da6c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e29c9da6c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e29c9da6c5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e29c9da6c5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e29c9da6c5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e29c9da6c5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e29c9da6c5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e29c9da6c5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e29c9da6c5_0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e29c9da6c5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e29c9da6c5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e29c9da6c5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e29c9da6c5_0_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e29c9da6c5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investopedia.com/terms/a/artificial-intelligence-ai.asp"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investopedia.com/terms/m/machine-learning.asp"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investopedia.com/terms/b/big-data.asp"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www.investopedia.com/tech/worlds-top-10-fintech-companies-baba/" TargetMode="External"/><Relationship Id="rId4" Type="http://schemas.openxmlformats.org/officeDocument/2006/relationships/hyperlink" Target="https://www.investopedia.com/terms/e/ecommerce.asp"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en.wikipedia.org/wiki/Cloud_computing" TargetMode="External"/><Relationship Id="rId3" Type="http://schemas.openxmlformats.org/officeDocument/2006/relationships/hyperlink" Target="https://en.wikipedia.org/wiki/Multinational_corporation" TargetMode="External"/><Relationship Id="rId7" Type="http://schemas.openxmlformats.org/officeDocument/2006/relationships/hyperlink" Target="https://en.wikipedia.org/wiki/Search_engine"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en.wikipedia.org/wiki/Online_advertising" TargetMode="External"/><Relationship Id="rId11" Type="http://schemas.openxmlformats.org/officeDocument/2006/relationships/hyperlink" Target="https://en.wikipedia.org/wiki/Apple_Inc." TargetMode="External"/><Relationship Id="rId5" Type="http://schemas.openxmlformats.org/officeDocument/2006/relationships/hyperlink" Target="https://en.wikipedia.org/wiki/Internet" TargetMode="External"/><Relationship Id="rId10" Type="http://schemas.openxmlformats.org/officeDocument/2006/relationships/hyperlink" Target="https://en.wikipedia.org/wiki/Facebook,_Inc." TargetMode="External"/><Relationship Id="rId4" Type="http://schemas.openxmlformats.org/officeDocument/2006/relationships/hyperlink" Target="https://en.wikipedia.org/wiki/Technology_company" TargetMode="External"/><Relationship Id="rId9" Type="http://schemas.openxmlformats.org/officeDocument/2006/relationships/hyperlink" Target="https://en.wikipedia.org/wiki/Amazon_(company)"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hyperlink" Target="https://www.nasdaq.com/market-activity/stocks/goog" TargetMode="External"/><Relationship Id="rId3" Type="http://schemas.openxmlformats.org/officeDocument/2006/relationships/hyperlink" Target="https://machinelearningmastery.com/start-here/#getstarted" TargetMode="External"/><Relationship Id="rId7" Type="http://schemas.openxmlformats.org/officeDocument/2006/relationships/hyperlink" Target="https://www.investopedia.com/terms/d/deep-learning.asp"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groww.in/us-stocks/googl" TargetMode="External"/><Relationship Id="rId5" Type="http://schemas.openxmlformats.org/officeDocument/2006/relationships/hyperlink" Target="https://www.sas.com/en_us/insights/analytics/machine-learning.html" TargetMode="External"/><Relationship Id="rId4" Type="http://schemas.openxmlformats.org/officeDocument/2006/relationships/hyperlink" Target="https://colah.github.io/posts/2015-08-Understanding-LST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1179422" y="2258454"/>
            <a:ext cx="7763100" cy="83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dirty="0">
                <a:latin typeface="Times New Roman" panose="02020603050405020304" pitchFamily="18" charset="0"/>
                <a:cs typeface="Times New Roman" panose="02020603050405020304" pitchFamily="18" charset="0"/>
              </a:rPr>
              <a:t>STOCK PRICE PREDICTION </a:t>
            </a:r>
            <a:endParaRPr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66C19DA-0794-EE9B-78BE-E51B3D1CF0FE}"/>
              </a:ext>
            </a:extLst>
          </p:cNvPr>
          <p:cNvSpPr txBox="1"/>
          <p:nvPr/>
        </p:nvSpPr>
        <p:spPr>
          <a:xfrm>
            <a:off x="697423" y="914399"/>
            <a:ext cx="8023113" cy="1131848"/>
          </a:xfrm>
          <a:prstGeom prst="rect">
            <a:avLst/>
          </a:prstGeom>
          <a:noFill/>
        </p:spPr>
        <p:txBody>
          <a:bodyPr wrap="square" rtlCol="0">
            <a:spAutoFit/>
          </a:bodyPr>
          <a:lstStyle/>
          <a:p>
            <a:pPr>
              <a:lnSpc>
                <a:spcPct val="150000"/>
              </a:lnSpc>
            </a:pPr>
            <a:r>
              <a:rPr lang="en-US" sz="2400" dirty="0">
                <a:solidFill>
                  <a:schemeClr val="bg1"/>
                </a:solidFill>
              </a:rPr>
              <a:t>CS-5720 NEURAL METWORKS AND DEEP LEARNING</a:t>
            </a:r>
          </a:p>
          <a:p>
            <a:pPr algn="ctr">
              <a:lnSpc>
                <a:spcPct val="150000"/>
              </a:lnSpc>
            </a:pPr>
            <a:r>
              <a:rPr lang="en-US" sz="2400" dirty="0">
                <a:solidFill>
                  <a:schemeClr val="bg1"/>
                </a:solidFill>
              </a:rPr>
              <a:t>CRN-23848</a:t>
            </a:r>
          </a:p>
        </p:txBody>
      </p:sp>
      <p:sp>
        <p:nvSpPr>
          <p:cNvPr id="3" name="TextBox 2">
            <a:extLst>
              <a:ext uri="{FF2B5EF4-FFF2-40B4-BE49-F238E27FC236}">
                <a16:creationId xmlns:a16="http://schemas.microsoft.com/office/drawing/2014/main" id="{FD2A22A4-C0AA-D8DB-EE49-05D4207DAC92}"/>
              </a:ext>
            </a:extLst>
          </p:cNvPr>
          <p:cNvSpPr txBox="1"/>
          <p:nvPr/>
        </p:nvSpPr>
        <p:spPr>
          <a:xfrm>
            <a:off x="4572000" y="3549111"/>
            <a:ext cx="4148537" cy="830997"/>
          </a:xfrm>
          <a:prstGeom prst="rect">
            <a:avLst/>
          </a:prstGeom>
          <a:noFill/>
        </p:spPr>
        <p:txBody>
          <a:bodyPr wrap="square" rtlCol="0">
            <a:spAutoFit/>
          </a:bodyPr>
          <a:lstStyle/>
          <a:p>
            <a:r>
              <a:rPr lang="en-US" sz="1600" dirty="0">
                <a:solidFill>
                  <a:schemeClr val="bg1"/>
                </a:solidFill>
              </a:rPr>
              <a:t>KHAGGA UMA SANKAR        700772583</a:t>
            </a:r>
          </a:p>
          <a:p>
            <a:r>
              <a:rPr lang="en-US" sz="1600" dirty="0">
                <a:solidFill>
                  <a:schemeClr val="bg1"/>
                </a:solidFill>
              </a:rPr>
              <a:t>VIDHAI DIAMOND GERA       700771948</a:t>
            </a:r>
          </a:p>
          <a:p>
            <a:endParaRPr lang="en-US" sz="1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CONTENT</a:t>
            </a:r>
            <a:endParaRPr/>
          </a:p>
        </p:txBody>
      </p:sp>
      <p:sp>
        <p:nvSpPr>
          <p:cNvPr id="91" name="Google Shape;91;p1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a:t>Machine Learning</a:t>
            </a:r>
            <a:endParaRPr/>
          </a:p>
          <a:p>
            <a:pPr marL="457200" lvl="0" indent="-342900" algn="l" rtl="0">
              <a:spcBef>
                <a:spcPts val="0"/>
              </a:spcBef>
              <a:spcAft>
                <a:spcPts val="0"/>
              </a:spcAft>
              <a:buSzPts val="1800"/>
              <a:buAutoNum type="arabicPeriod"/>
            </a:pPr>
            <a:r>
              <a:rPr lang="en-GB"/>
              <a:t>Deep Learning</a:t>
            </a:r>
            <a:endParaRPr/>
          </a:p>
          <a:p>
            <a:pPr marL="457200" lvl="0" indent="-342900" algn="l" rtl="0">
              <a:spcBef>
                <a:spcPts val="0"/>
              </a:spcBef>
              <a:spcAft>
                <a:spcPts val="0"/>
              </a:spcAft>
              <a:buSzPts val="1800"/>
              <a:buAutoNum type="arabicPeriod"/>
            </a:pPr>
            <a:r>
              <a:rPr lang="en-GB"/>
              <a:t>Deep Learning Necessity </a:t>
            </a:r>
            <a:endParaRPr/>
          </a:p>
          <a:p>
            <a:pPr marL="457200" lvl="0" indent="-342900" algn="l" rtl="0">
              <a:spcBef>
                <a:spcPts val="0"/>
              </a:spcBef>
              <a:spcAft>
                <a:spcPts val="0"/>
              </a:spcAft>
              <a:buSzPts val="1800"/>
              <a:buAutoNum type="arabicPeriod"/>
            </a:pPr>
            <a:r>
              <a:rPr lang="en-GB"/>
              <a:t>Google Stock Price Dataset</a:t>
            </a:r>
            <a:endParaRPr/>
          </a:p>
          <a:p>
            <a:pPr marL="457200" lvl="0" indent="-342900" algn="l" rtl="0">
              <a:spcBef>
                <a:spcPts val="0"/>
              </a:spcBef>
              <a:spcAft>
                <a:spcPts val="0"/>
              </a:spcAft>
              <a:buSzPts val="1800"/>
              <a:buAutoNum type="arabicPeriod"/>
            </a:pPr>
            <a:r>
              <a:rPr lang="en-GB"/>
              <a:t>Algorithm</a:t>
            </a:r>
            <a:endParaRPr/>
          </a:p>
          <a:p>
            <a:pPr marL="457200" lvl="0" indent="-342900" algn="l" rtl="0">
              <a:spcBef>
                <a:spcPts val="0"/>
              </a:spcBef>
              <a:spcAft>
                <a:spcPts val="0"/>
              </a:spcAft>
              <a:buSzPts val="1800"/>
              <a:buAutoNum type="arabicPeriod"/>
            </a:pPr>
            <a:r>
              <a:rPr lang="en-GB"/>
              <a:t>Conclusion </a:t>
            </a:r>
            <a:endParaRPr/>
          </a:p>
          <a:p>
            <a:pPr marL="457200" lvl="0" indent="-342900" algn="l" rtl="0">
              <a:spcBef>
                <a:spcPts val="0"/>
              </a:spcBef>
              <a:spcAft>
                <a:spcPts val="0"/>
              </a:spcAft>
              <a:buSzPts val="1800"/>
              <a:buAutoNum type="arabicPeriod"/>
            </a:pPr>
            <a:r>
              <a:rPr lang="en-GB"/>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ABSTRACT</a:t>
            </a:r>
            <a:endParaRPr/>
          </a:p>
        </p:txBody>
      </p:sp>
      <p:sp>
        <p:nvSpPr>
          <p:cNvPr id="97" name="Google Shape;97;p15"/>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Demand of Stock have become huge with Increased in popularity of Stock in Digital world. Prediction and Analysing stock can benefit People to think before buying or selling stocks. So, A New Stock Price Prediction through Deep Learning Algorithms has been </a:t>
            </a:r>
            <a:r>
              <a:rPr lang="en-GB" dirty="0" err="1"/>
              <a:t>analyzed</a:t>
            </a:r>
            <a:r>
              <a:rPr lang="en-GB" dirty="0"/>
              <a:t> and visualized. Through This System we can predict of any Company stock in the world.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MACHINE LEARNING</a:t>
            </a:r>
            <a:endParaRPr/>
          </a:p>
        </p:txBody>
      </p:sp>
      <p:sp>
        <p:nvSpPr>
          <p:cNvPr id="103" name="Google Shape;103;p1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highlight>
                  <a:srgbClr val="FFFFFF"/>
                </a:highlight>
                <a:latin typeface="Roboto" panose="02000000000000000000" pitchFamily="2" charset="0"/>
                <a:ea typeface="Roboto" panose="02000000000000000000" pitchFamily="2" charset="0"/>
                <a:cs typeface="Roboto" panose="02000000000000000000" pitchFamily="2" charset="0"/>
              </a:rPr>
              <a:t>Machine learning is the science of getting computers to act without being explicitly programmed.</a:t>
            </a:r>
            <a:endParaRPr dirty="0">
              <a:highlight>
                <a:srgbClr val="FFFFFF"/>
              </a:highlight>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1200"/>
              </a:spcBef>
              <a:spcAft>
                <a:spcPts val="0"/>
              </a:spcAft>
              <a:buNone/>
            </a:pPr>
            <a:r>
              <a:rPr lang="en-GB" dirty="0">
                <a:highlight>
                  <a:srgbClr val="FFFFFF"/>
                </a:highlight>
                <a:latin typeface="Roboto" panose="02000000000000000000" pitchFamily="2" charset="0"/>
                <a:ea typeface="Roboto" panose="02000000000000000000" pitchFamily="2" charset="0"/>
                <a:cs typeface="Roboto" panose="02000000000000000000" pitchFamily="2" charset="0"/>
              </a:rPr>
              <a:t>Machine learning is a method of data analysis that automates analytical model building</a:t>
            </a:r>
            <a:endParaRPr dirty="0">
              <a:highlight>
                <a:srgbClr val="FFFFFF"/>
              </a:highlight>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1200"/>
              </a:spcBef>
              <a:spcAft>
                <a:spcPts val="1200"/>
              </a:spcAft>
              <a:buNone/>
            </a:pPr>
            <a:r>
              <a:rPr lang="en-GB" dirty="0">
                <a:highlight>
                  <a:srgbClr val="FFFFFF"/>
                </a:highlight>
                <a:latin typeface="Roboto" panose="02000000000000000000" pitchFamily="2" charset="0"/>
                <a:ea typeface="Roboto" panose="02000000000000000000" pitchFamily="2" charset="0"/>
                <a:cs typeface="Roboto" panose="02000000000000000000" pitchFamily="2" charset="0"/>
                <a:sym typeface="Arial"/>
              </a:rPr>
              <a:t>Machine learning is important because it gives enterprises a view of trends in customer </a:t>
            </a:r>
            <a:r>
              <a:rPr lang="en-GB" dirty="0" err="1">
                <a:highlight>
                  <a:srgbClr val="FFFFFF"/>
                </a:highlight>
                <a:latin typeface="Roboto" panose="02000000000000000000" pitchFamily="2" charset="0"/>
                <a:ea typeface="Roboto" panose="02000000000000000000" pitchFamily="2" charset="0"/>
                <a:cs typeface="Roboto" panose="02000000000000000000" pitchFamily="2" charset="0"/>
                <a:sym typeface="Arial"/>
              </a:rPr>
              <a:t>behavior</a:t>
            </a:r>
            <a:r>
              <a:rPr lang="en-GB" dirty="0">
                <a:highlight>
                  <a:srgbClr val="FFFFFF"/>
                </a:highlight>
                <a:latin typeface="Roboto" panose="02000000000000000000" pitchFamily="2" charset="0"/>
                <a:ea typeface="Roboto" panose="02000000000000000000" pitchFamily="2" charset="0"/>
                <a:cs typeface="Roboto" panose="02000000000000000000" pitchFamily="2" charset="0"/>
                <a:sym typeface="Arial"/>
              </a:rPr>
              <a:t> and business operational patterns, as well as supports the development of new products</a:t>
            </a:r>
            <a:endParaRPr dirty="0">
              <a:highlight>
                <a:srgbClr val="FFFFFF"/>
              </a:highlight>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DEEP LEARNING</a:t>
            </a:r>
            <a:endParaRPr/>
          </a:p>
        </p:txBody>
      </p:sp>
      <p:sp>
        <p:nvSpPr>
          <p:cNvPr id="109" name="Google Shape;109;p17"/>
          <p:cNvSpPr txBox="1">
            <a:spLocks noGrp="1"/>
          </p:cNvSpPr>
          <p:nvPr>
            <p:ph type="body" idx="1"/>
          </p:nvPr>
        </p:nvSpPr>
        <p:spPr>
          <a:xfrm>
            <a:off x="451185" y="1183380"/>
            <a:ext cx="8520600" cy="333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rPr>
              <a:t>Deep learning is an </a:t>
            </a:r>
            <a:r>
              <a:rPr lang="en-GB" u="sng" dirty="0">
                <a:solidFill>
                  <a:srgbClr val="2C40D0"/>
                </a:solidFill>
                <a:latin typeface="Roboto" panose="02000000000000000000" pitchFamily="2" charset="0"/>
                <a:ea typeface="Roboto" panose="02000000000000000000" pitchFamily="2" charset="0"/>
                <a:cs typeface="Roboto" panose="02000000000000000000" pitchFamily="2" charset="0"/>
                <a:sym typeface="Times New Roman"/>
                <a:hlinkClick r:id="rId3">
                  <a:extLst>
                    <a:ext uri="{A12FA001-AC4F-418D-AE19-62706E023703}">
                      <ahyp:hlinkClr xmlns:ahyp="http://schemas.microsoft.com/office/drawing/2018/hyperlinkcolor" val="tx"/>
                    </a:ext>
                  </a:extLst>
                </a:hlinkClick>
              </a:rPr>
              <a:t>artificial intelligence (AI)</a:t>
            </a: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rPr>
              <a:t> function that imitates the workings of the human brain in processing data and creating patterns for use in decision making.</a:t>
            </a:r>
            <a:endParaRPr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endParaRPr>
          </a:p>
          <a:p>
            <a:pPr marL="0" lvl="0" indent="0" algn="l" rtl="0">
              <a:spcBef>
                <a:spcPts val="1200"/>
              </a:spcBef>
              <a:spcAft>
                <a:spcPts val="0"/>
              </a:spcAft>
              <a:buNone/>
            </a:pP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rPr>
              <a:t> Deep learning is a subset of </a:t>
            </a:r>
            <a:r>
              <a:rPr lang="en-GB" u="sng" dirty="0">
                <a:solidFill>
                  <a:srgbClr val="2C40D0"/>
                </a:solidFill>
                <a:latin typeface="Roboto" panose="02000000000000000000" pitchFamily="2" charset="0"/>
                <a:ea typeface="Roboto" panose="02000000000000000000" pitchFamily="2" charset="0"/>
                <a:cs typeface="Roboto" panose="02000000000000000000" pitchFamily="2" charset="0"/>
                <a:sym typeface="Times New Roman"/>
                <a:hlinkClick r:id="rId4">
                  <a:extLst>
                    <a:ext uri="{A12FA001-AC4F-418D-AE19-62706E023703}">
                      <ahyp:hlinkClr xmlns:ahyp="http://schemas.microsoft.com/office/drawing/2018/hyperlinkcolor" val="tx"/>
                    </a:ext>
                  </a:extLst>
                </a:hlinkClick>
              </a:rPr>
              <a:t>machine learning</a:t>
            </a: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rPr>
              <a:t> in artificial intelligence that has networks capable of learning unsupervised from data that is unstructured or </a:t>
            </a:r>
            <a:r>
              <a:rPr lang="en-GB" dirty="0" err="1">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rPr>
              <a:t>unlabeled</a:t>
            </a: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rPr>
              <a:t>. Also known as deep neural learning or deep neural network.</a:t>
            </a:r>
            <a:endParaRPr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endParaRPr>
          </a:p>
          <a:p>
            <a:pPr marL="0" lvl="0" indent="0" algn="l" rtl="0">
              <a:spcBef>
                <a:spcPts val="1200"/>
              </a:spcBef>
              <a:spcAft>
                <a:spcPts val="1200"/>
              </a:spcAft>
              <a:buNone/>
            </a:pPr>
            <a:r>
              <a:rPr lang="en-GB" dirty="0">
                <a:solidFill>
                  <a:srgbClr val="262626"/>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rPr>
              <a:t>Deep learning attempts to mimic the human brain—albeit far from matching its ability—enabling systems to cluster data and make predictions with incredible accuracy.</a:t>
            </a:r>
            <a:endParaRPr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DEEP LEARNING NECESSITY   </a:t>
            </a:r>
            <a:endParaRPr/>
          </a:p>
        </p:txBody>
      </p:sp>
      <p:sp>
        <p:nvSpPr>
          <p:cNvPr id="115" name="Google Shape;115;p18"/>
          <p:cNvSpPr txBox="1">
            <a:spLocks noGrp="1"/>
          </p:cNvSpPr>
          <p:nvPr>
            <p:ph type="body" idx="1"/>
          </p:nvPr>
        </p:nvSpPr>
        <p:spPr>
          <a:xfrm>
            <a:off x="311700" y="1136886"/>
            <a:ext cx="8520600" cy="333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Deep learning has evolved hand-in-hand with the digital era, which has brought about an explosion of data in all forms and from every region of the world. This data, known simply as </a:t>
            </a:r>
            <a:r>
              <a:rPr lang="en-GB" u="sng" dirty="0">
                <a:solidFill>
                  <a:srgbClr val="2C40D0"/>
                </a:solidFill>
                <a:latin typeface="Roboto" panose="02000000000000000000" pitchFamily="2" charset="0"/>
                <a:ea typeface="Roboto" panose="02000000000000000000" pitchFamily="2" charset="0"/>
                <a:cs typeface="Roboto" panose="02000000000000000000" pitchFamily="2" charset="0"/>
                <a:sym typeface="Arial"/>
                <a:hlinkClick r:id="rId3">
                  <a:extLst>
                    <a:ext uri="{A12FA001-AC4F-418D-AE19-62706E023703}">
                      <ahyp:hlinkClr xmlns:ahyp="http://schemas.microsoft.com/office/drawing/2018/hyperlinkcolor" val="tx"/>
                    </a:ext>
                  </a:extLst>
                </a:hlinkClick>
              </a:rPr>
              <a:t>big data</a:t>
            </a: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is drawn from sources like social media, internet search engines, </a:t>
            </a:r>
            <a:r>
              <a:rPr lang="en-GB" u="sng" dirty="0">
                <a:solidFill>
                  <a:srgbClr val="2C40D0"/>
                </a:solidFill>
                <a:latin typeface="Roboto" panose="02000000000000000000" pitchFamily="2" charset="0"/>
                <a:ea typeface="Roboto" panose="02000000000000000000" pitchFamily="2" charset="0"/>
                <a:cs typeface="Roboto" panose="02000000000000000000" pitchFamily="2" charset="0"/>
                <a:sym typeface="Arial"/>
                <a:hlinkClick r:id="rId4">
                  <a:extLst>
                    <a:ext uri="{A12FA001-AC4F-418D-AE19-62706E023703}">
                      <ahyp:hlinkClr xmlns:ahyp="http://schemas.microsoft.com/office/drawing/2018/hyperlinkcolor" val="tx"/>
                    </a:ext>
                  </a:extLst>
                </a:hlinkClick>
              </a:rPr>
              <a:t>e-commerce</a:t>
            </a: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platforms, and online cinemas, among others. This enormous amount of data is readily accessible and can be shared through </a:t>
            </a:r>
            <a:r>
              <a:rPr lang="en-GB" u="sng" dirty="0">
                <a:solidFill>
                  <a:srgbClr val="2C40D0"/>
                </a:solidFill>
                <a:latin typeface="Roboto" panose="02000000000000000000" pitchFamily="2" charset="0"/>
                <a:ea typeface="Roboto" panose="02000000000000000000" pitchFamily="2" charset="0"/>
                <a:cs typeface="Roboto" panose="02000000000000000000" pitchFamily="2" charset="0"/>
                <a:sym typeface="Arial"/>
                <a:hlinkClick r:id="rId5">
                  <a:extLst>
                    <a:ext uri="{A12FA001-AC4F-418D-AE19-62706E023703}">
                      <ahyp:hlinkClr xmlns:ahyp="http://schemas.microsoft.com/office/drawing/2018/hyperlinkcolor" val="tx"/>
                    </a:ext>
                  </a:extLst>
                </a:hlinkClick>
              </a:rPr>
              <a:t>fintech</a:t>
            </a: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applications like cloud computing.</a:t>
            </a:r>
            <a:endParaRPr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endParaRPr>
          </a:p>
          <a:p>
            <a:pPr marL="0" lvl="0" indent="0" algn="l" rtl="0">
              <a:spcBef>
                <a:spcPts val="1200"/>
              </a:spcBef>
              <a:spcAft>
                <a:spcPts val="1200"/>
              </a:spcAft>
              <a:buNone/>
            </a:pP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However, the data, which normally is unstructured, is so vast that it could take decades for humans to comprehend it and extract relevant information. Companies realize the incredible potential that can result from </a:t>
            </a:r>
            <a:r>
              <a:rPr lang="en-GB" dirty="0" err="1">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unraveling</a:t>
            </a:r>
            <a:r>
              <a:rPr lang="en-GB"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this wealth of information and are increasingly adapting to AI systems for automated support.</a:t>
            </a:r>
            <a:endParaRPr dirty="0">
              <a:solidFill>
                <a:srgbClr val="111111"/>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GOOGLE STOCK PRICE DATASET</a:t>
            </a:r>
            <a:endParaRPr/>
          </a:p>
        </p:txBody>
      </p:sp>
      <p:sp>
        <p:nvSpPr>
          <p:cNvPr id="121" name="Google Shape;121;p19"/>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b="1" dirty="0">
                <a:solidFill>
                  <a:srgbClr val="202122"/>
                </a:solidFill>
                <a:latin typeface="Roboto" panose="02000000000000000000" pitchFamily="2" charset="0"/>
                <a:ea typeface="Roboto" panose="02000000000000000000" pitchFamily="2" charset="0"/>
                <a:cs typeface="Roboto" panose="02000000000000000000" pitchFamily="2" charset="0"/>
                <a:sym typeface="Arial"/>
              </a:rPr>
              <a:t>Google LLC</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is an American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3">
                  <a:extLst>
                    <a:ext uri="{A12FA001-AC4F-418D-AE19-62706E023703}">
                      <ahyp:hlinkClr xmlns:ahyp="http://schemas.microsoft.com/office/drawing/2018/hyperlinkcolor" val="tx"/>
                    </a:ext>
                  </a:extLst>
                </a:hlinkClick>
              </a:rPr>
              <a:t>multinational</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4">
                  <a:extLst>
                    <a:ext uri="{A12FA001-AC4F-418D-AE19-62706E023703}">
                      <ahyp:hlinkClr xmlns:ahyp="http://schemas.microsoft.com/office/drawing/2018/hyperlinkcolor" val="tx"/>
                    </a:ext>
                  </a:extLst>
                </a:hlinkClick>
              </a:rPr>
              <a:t>technology company</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that specializes in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5">
                  <a:extLst>
                    <a:ext uri="{A12FA001-AC4F-418D-AE19-62706E023703}">
                      <ahyp:hlinkClr xmlns:ahyp="http://schemas.microsoft.com/office/drawing/2018/hyperlinkcolor" val="tx"/>
                    </a:ext>
                  </a:extLst>
                </a:hlinkClick>
              </a:rPr>
              <a:t>Internet</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-related services and products, which include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6">
                  <a:extLst>
                    <a:ext uri="{A12FA001-AC4F-418D-AE19-62706E023703}">
                      <ahyp:hlinkClr xmlns:ahyp="http://schemas.microsoft.com/office/drawing/2018/hyperlinkcolor" val="tx"/>
                    </a:ext>
                  </a:extLst>
                </a:hlinkClick>
              </a:rPr>
              <a:t>online advertising technologies</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a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7">
                  <a:extLst>
                    <a:ext uri="{A12FA001-AC4F-418D-AE19-62706E023703}">
                      <ahyp:hlinkClr xmlns:ahyp="http://schemas.microsoft.com/office/drawing/2018/hyperlinkcolor" val="tx"/>
                    </a:ext>
                  </a:extLst>
                </a:hlinkClick>
              </a:rPr>
              <a:t>search engine</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8">
                  <a:extLst>
                    <a:ext uri="{A12FA001-AC4F-418D-AE19-62706E023703}">
                      <ahyp:hlinkClr xmlns:ahyp="http://schemas.microsoft.com/office/drawing/2018/hyperlinkcolor" val="tx"/>
                    </a:ext>
                  </a:extLst>
                </a:hlinkClick>
              </a:rPr>
              <a:t>cloud computing</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software, and hardware. </a:t>
            </a:r>
            <a:endParaRPr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endParaRPr>
          </a:p>
          <a:p>
            <a:pPr marL="0" lvl="0" indent="0" algn="l" rtl="0">
              <a:spcBef>
                <a:spcPts val="1200"/>
              </a:spcBef>
              <a:spcAft>
                <a:spcPts val="0"/>
              </a:spcAft>
              <a:buNone/>
            </a:pP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It is considered one of the big four Internet stocks along with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9">
                  <a:extLst>
                    <a:ext uri="{A12FA001-AC4F-418D-AE19-62706E023703}">
                      <ahyp:hlinkClr xmlns:ahyp="http://schemas.microsoft.com/office/drawing/2018/hyperlinkcolor" val="tx"/>
                    </a:ext>
                  </a:extLst>
                </a:hlinkClick>
              </a:rPr>
              <a:t>Amazon</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10">
                  <a:extLst>
                    <a:ext uri="{A12FA001-AC4F-418D-AE19-62706E023703}">
                      <ahyp:hlinkClr xmlns:ahyp="http://schemas.microsoft.com/office/drawing/2018/hyperlinkcolor" val="tx"/>
                    </a:ext>
                  </a:extLst>
                </a:hlinkClick>
              </a:rPr>
              <a:t>Facebook</a:t>
            </a:r>
            <a:r>
              <a:rPr lang="en-GB" dirty="0">
                <a:solidFill>
                  <a:srgbClr val="202122"/>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and </a:t>
            </a:r>
            <a:r>
              <a:rPr lang="en-GB" dirty="0">
                <a:solidFill>
                  <a:srgbClr val="0B0080"/>
                </a:solidFill>
                <a:uFill>
                  <a:noFill/>
                </a:uFill>
                <a:latin typeface="Roboto" panose="02000000000000000000" pitchFamily="2" charset="0"/>
                <a:ea typeface="Roboto" panose="02000000000000000000" pitchFamily="2" charset="0"/>
                <a:cs typeface="Roboto" panose="02000000000000000000" pitchFamily="2" charset="0"/>
                <a:sym typeface="Arial"/>
                <a:hlinkClick r:id="rId11">
                  <a:extLst>
                    <a:ext uri="{A12FA001-AC4F-418D-AE19-62706E023703}">
                      <ahyp:hlinkClr xmlns:ahyp="http://schemas.microsoft.com/office/drawing/2018/hyperlinkcolor" val="tx"/>
                    </a:ext>
                  </a:extLst>
                </a:hlinkClick>
              </a:rPr>
              <a:t>Apple</a:t>
            </a:r>
            <a:endParaRPr dirty="0">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1200"/>
              </a:spcBef>
              <a:spcAft>
                <a:spcPts val="0"/>
              </a:spcAft>
              <a:buNone/>
            </a:pPr>
            <a:r>
              <a:rPr lang="en-GB" dirty="0">
                <a:solidFill>
                  <a:srgbClr val="4D5156"/>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The company is listed on the </a:t>
            </a:r>
            <a:r>
              <a:rPr lang="en-GB" b="1" dirty="0">
                <a:solidFill>
                  <a:srgbClr val="5F6368"/>
                </a:solidFill>
                <a:latin typeface="Roboto" panose="02000000000000000000" pitchFamily="2" charset="0"/>
                <a:ea typeface="Roboto" panose="02000000000000000000" pitchFamily="2" charset="0"/>
                <a:cs typeface="Roboto" panose="02000000000000000000" pitchFamily="2" charset="0"/>
                <a:sym typeface="Arial"/>
              </a:rPr>
              <a:t>NASDAQ</a:t>
            </a:r>
            <a:r>
              <a:rPr lang="en-GB" dirty="0">
                <a:solidFill>
                  <a:srgbClr val="4D5156"/>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 stock exchange under the ticker symbol </a:t>
            </a:r>
            <a:r>
              <a:rPr lang="en-GB" b="1" dirty="0">
                <a:solidFill>
                  <a:srgbClr val="5F6368"/>
                </a:solidFill>
                <a:latin typeface="Roboto" panose="02000000000000000000" pitchFamily="2" charset="0"/>
                <a:ea typeface="Roboto" panose="02000000000000000000" pitchFamily="2" charset="0"/>
                <a:cs typeface="Roboto" panose="02000000000000000000" pitchFamily="2" charset="0"/>
                <a:sym typeface="Arial"/>
              </a:rPr>
              <a:t>GOOG</a:t>
            </a:r>
            <a:r>
              <a:rPr lang="en-GB" dirty="0">
                <a:solidFill>
                  <a:srgbClr val="4D5156"/>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a:t>
            </a:r>
            <a:endParaRPr dirty="0">
              <a:solidFill>
                <a:srgbClr val="4D5156"/>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endParaRPr>
          </a:p>
          <a:p>
            <a:pPr marL="0" lvl="0" indent="0" algn="l" rtl="0">
              <a:spcBef>
                <a:spcPts val="1200"/>
              </a:spcBef>
              <a:spcAft>
                <a:spcPts val="1200"/>
              </a:spcAft>
              <a:buNone/>
            </a:pPr>
            <a:r>
              <a:rPr lang="en-GB" dirty="0">
                <a:solidFill>
                  <a:srgbClr val="4D5156"/>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rPr>
              <a:t>We have Included 5 year Stock Price of Google for this Project.</a:t>
            </a:r>
            <a:endParaRPr dirty="0">
              <a:solidFill>
                <a:srgbClr val="4D5156"/>
              </a:solidFill>
              <a:highlight>
                <a:srgbClr val="FFFFFF"/>
              </a:highlight>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ALGORITHMS</a:t>
            </a:r>
            <a:endParaRPr dirty="0"/>
          </a:p>
        </p:txBody>
      </p:sp>
      <p:sp>
        <p:nvSpPr>
          <p:cNvPr id="127" name="Google Shape;127;p20"/>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a:buFont typeface="Roboto"/>
              <a:buAutoNum type="arabicPeriod"/>
            </a:pPr>
            <a:r>
              <a:rPr lang="en-GB" dirty="0"/>
              <a:t>RECURRENT NEURAL NETWORK (RNN)</a:t>
            </a:r>
          </a:p>
          <a:p>
            <a:pPr marL="457200" lvl="0" indent="-342900" algn="l" rtl="0">
              <a:spcBef>
                <a:spcPts val="0"/>
              </a:spcBef>
              <a:spcAft>
                <a:spcPts val="0"/>
              </a:spcAft>
              <a:buSzPts val="1800"/>
              <a:buAutoNum type="arabicPeriod"/>
            </a:pPr>
            <a:r>
              <a:rPr lang="en-GB" dirty="0"/>
              <a:t>DENSE </a:t>
            </a:r>
            <a:endParaRPr dirty="0"/>
          </a:p>
          <a:p>
            <a:pPr marL="457200" lvl="0" indent="-342900" algn="l" rtl="0">
              <a:spcBef>
                <a:spcPts val="0"/>
              </a:spcBef>
              <a:spcAft>
                <a:spcPts val="0"/>
              </a:spcAft>
              <a:buSzPts val="1800"/>
              <a:buAutoNum type="arabicPeriod"/>
            </a:pPr>
            <a:r>
              <a:rPr lang="en-GB" dirty="0"/>
              <a:t>LSTM </a:t>
            </a:r>
            <a:endParaRPr dirty="0"/>
          </a:p>
          <a:p>
            <a:pPr marL="457200" lvl="0" indent="-342900" algn="l" rtl="0">
              <a:spcBef>
                <a:spcPts val="0"/>
              </a:spcBef>
              <a:spcAft>
                <a:spcPts val="0"/>
              </a:spcAft>
              <a:buSzPts val="1800"/>
              <a:buAutoNum type="arabicPeriod"/>
            </a:pPr>
            <a:r>
              <a:rPr lang="en-GB" dirty="0"/>
              <a:t>DROPOUT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B814-5034-86D9-5402-CF4FD5447A98}"/>
              </a:ext>
            </a:extLst>
          </p:cNvPr>
          <p:cNvSpPr>
            <a:spLocks noGrp="1"/>
          </p:cNvSpPr>
          <p:nvPr>
            <p:ph type="title"/>
          </p:nvPr>
        </p:nvSpPr>
        <p:spPr/>
        <p:txBody>
          <a:bodyPr>
            <a:normAutofit fontScale="90000"/>
          </a:bodyPr>
          <a:lstStyle/>
          <a:p>
            <a:r>
              <a:rPr lang="en-US" sz="3200" b="0" i="0" dirty="0">
                <a:solidFill>
                  <a:schemeClr val="accent1">
                    <a:lumMod val="50000"/>
                  </a:schemeClr>
                </a:solidFill>
                <a:effectLst/>
                <a:latin typeface="Montserrat" pitchFamily="2" charset="77"/>
                <a:cs typeface="Times New Roman" panose="02020603050405020304" pitchFamily="18" charset="0"/>
              </a:rPr>
              <a:t>Recurrent Neural Networks (RNNs</a:t>
            </a:r>
            <a:r>
              <a:rPr lang="en-US" sz="3200" b="0" i="0" dirty="0">
                <a:solidFill>
                  <a:schemeClr val="accent1">
                    <a:lumMod val="50000"/>
                  </a:schemeClr>
                </a:solidFill>
                <a:effectLst/>
                <a:latin typeface="Times New Roman" panose="02020603050405020304" pitchFamily="18" charset="0"/>
                <a:cs typeface="Times New Roman" panose="02020603050405020304" pitchFamily="18" charset="0"/>
              </a:rPr>
              <a:t>)</a:t>
            </a:r>
            <a:br>
              <a:rPr lang="en-US" sz="3200" dirty="0">
                <a:solidFill>
                  <a:schemeClr val="accent1">
                    <a:lumMod val="50000"/>
                  </a:schemeClr>
                </a:solidFill>
              </a:rPr>
            </a:br>
            <a:br>
              <a:rPr lang="en-US" sz="3200" dirty="0">
                <a:solidFill>
                  <a:schemeClr val="accent1">
                    <a:lumMod val="50000"/>
                  </a:schemeClr>
                </a:solidFill>
              </a:rPr>
            </a:br>
            <a:endParaRPr lang="en-US" dirty="0">
              <a:solidFill>
                <a:schemeClr val="accent1">
                  <a:lumMod val="50000"/>
                </a:schemeClr>
              </a:solidFill>
            </a:endParaRPr>
          </a:p>
        </p:txBody>
      </p:sp>
      <p:sp>
        <p:nvSpPr>
          <p:cNvPr id="3" name="Text Placeholder 2">
            <a:extLst>
              <a:ext uri="{FF2B5EF4-FFF2-40B4-BE49-F238E27FC236}">
                <a16:creationId xmlns:a16="http://schemas.microsoft.com/office/drawing/2014/main" id="{C7CB8099-38B7-5D62-2082-63A6A28FB980}"/>
              </a:ext>
            </a:extLst>
          </p:cNvPr>
          <p:cNvSpPr>
            <a:spLocks noGrp="1"/>
          </p:cNvSpPr>
          <p:nvPr>
            <p:ph type="body" idx="1"/>
          </p:nvPr>
        </p:nvSpPr>
        <p:spPr/>
        <p:txBody>
          <a:bodyPr>
            <a:normAutofit/>
          </a:bodyPr>
          <a:lstStyle/>
          <a:p>
            <a:pPr marL="0" indent="0">
              <a:buNone/>
            </a:pPr>
            <a:endParaRPr lang="en-US" sz="1800" dirty="0">
              <a:solidFill>
                <a:srgbClr val="CDCDCD"/>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Unlike feed-forward neural networks, RNNs have “memory” in the sense that information can cycle through the network and impact future predictions. This makes them particularly, like predicting the future values in a time series.</a:t>
            </a:r>
          </a:p>
          <a:p>
            <a:pPr marL="171450" indent="-1714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800" b="0" i="0" dirty="0">
                <a:solidFill>
                  <a:schemeClr val="accent1">
                    <a:lumMod val="50000"/>
                  </a:schemeClr>
                </a:solidFill>
                <a:effectLst/>
                <a:latin typeface="Times New Roman" panose="02020603050405020304" pitchFamily="18" charset="0"/>
                <a:cs typeface="Times New Roman" panose="02020603050405020304" pitchFamily="18" charset="0"/>
              </a:rPr>
              <a:t>RNNs work by passing the sequential data that they receive to the hidden layers one step at a time. However, they also have a self-looping or recurrent workflow: the hidden layer can remember and use previous inputs for future predictions in a short-term memory component.</a:t>
            </a:r>
            <a:endParaRPr lang="en-US" sz="1800" dirty="0">
              <a:solidFill>
                <a:schemeClr val="accent1">
                  <a:lumMod val="5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05111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omputer&#10;&#10;Description automatically generated">
            <a:extLst>
              <a:ext uri="{FF2B5EF4-FFF2-40B4-BE49-F238E27FC236}">
                <a16:creationId xmlns:a16="http://schemas.microsoft.com/office/drawing/2014/main" id="{00239B98-D62A-328E-EB56-6EE14246C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4231" y="669333"/>
            <a:ext cx="5975537" cy="4161296"/>
          </a:xfrm>
          <a:prstGeom prst="rect">
            <a:avLst/>
          </a:prstGeom>
        </p:spPr>
      </p:pic>
    </p:spTree>
    <p:extLst>
      <p:ext uri="{BB962C8B-B14F-4D97-AF65-F5344CB8AC3E}">
        <p14:creationId xmlns:p14="http://schemas.microsoft.com/office/powerpoint/2010/main" val="1919439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1D5A8-3310-3D9E-1C8C-F607A6526940}"/>
              </a:ext>
            </a:extLst>
          </p:cNvPr>
          <p:cNvSpPr>
            <a:spLocks noGrp="1"/>
          </p:cNvSpPr>
          <p:nvPr>
            <p:ph type="title"/>
          </p:nvPr>
        </p:nvSpPr>
        <p:spPr/>
        <p:txBody>
          <a:bodyPr>
            <a:normAutofit fontScale="90000"/>
          </a:bodyPr>
          <a:lstStyle/>
          <a:p>
            <a:r>
              <a:rPr lang="en-US" sz="3200" b="0" i="0" dirty="0">
                <a:solidFill>
                  <a:schemeClr val="accent1">
                    <a:lumMod val="50000"/>
                  </a:schemeClr>
                </a:solidFill>
                <a:effectLst/>
                <a:latin typeface="Montserrat" pitchFamily="2" charset="77"/>
              </a:rPr>
              <a:t>Long short-term memory (LSTM)</a:t>
            </a:r>
            <a:br>
              <a:rPr lang="en-US" sz="3200" dirty="0">
                <a:solidFill>
                  <a:schemeClr val="accent1">
                    <a:lumMod val="50000"/>
                  </a:schemeClr>
                </a:solidFill>
                <a:latin typeface="Montserrat" pitchFamily="2" charset="77"/>
              </a:rPr>
            </a:br>
            <a:endParaRPr lang="en-US" dirty="0">
              <a:solidFill>
                <a:schemeClr val="accent1">
                  <a:lumMod val="50000"/>
                </a:schemeClr>
              </a:solidFill>
            </a:endParaRPr>
          </a:p>
        </p:txBody>
      </p:sp>
      <p:sp>
        <p:nvSpPr>
          <p:cNvPr id="3" name="Text Placeholder 2">
            <a:extLst>
              <a:ext uri="{FF2B5EF4-FFF2-40B4-BE49-F238E27FC236}">
                <a16:creationId xmlns:a16="http://schemas.microsoft.com/office/drawing/2014/main" id="{479578C6-F89C-14CB-84CE-A65C4BF9D808}"/>
              </a:ext>
            </a:extLst>
          </p:cNvPr>
          <p:cNvSpPr>
            <a:spLocks noGrp="1"/>
          </p:cNvSpPr>
          <p:nvPr>
            <p:ph type="body" idx="1"/>
          </p:nvPr>
        </p:nvSpPr>
        <p:spPr/>
        <p:txBody>
          <a:bodyPr/>
          <a:lstStyle/>
          <a:p>
            <a:pPr marL="285750" indent="-285750">
              <a:buFont typeface="Arial" panose="020B0604020202020204" pitchFamily="34" charset="0"/>
              <a:buChar char="•"/>
            </a:pPr>
            <a:r>
              <a:rPr lang="en-US" sz="1800" b="0" i="0" dirty="0">
                <a:solidFill>
                  <a:schemeClr val="accent1">
                    <a:lumMod val="50000"/>
                  </a:schemeClr>
                </a:solidFill>
                <a:effectLst/>
                <a:latin typeface="Times New Roman" panose="02020603050405020304" pitchFamily="18" charset="0"/>
                <a:cs typeface="Times New Roman" panose="02020603050405020304" pitchFamily="18" charset="0"/>
              </a:rPr>
              <a:t>Long short-term memory (LSTM) is a type of recurrent neural network (RNN) aimed at mitigating the vanishing gradient problem commonly encountered by traditional RNNs. </a:t>
            </a:r>
          </a:p>
          <a:p>
            <a:pPr marL="285750" indent="-285750">
              <a:buFont typeface="Arial" panose="020B0604020202020204" pitchFamily="34" charset="0"/>
              <a:buChar char="•"/>
            </a:pPr>
            <a:endParaRPr lang="en-US" sz="1800" dirty="0">
              <a:solidFill>
                <a:schemeClr val="accent1">
                  <a:lumMod val="5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0" i="0" dirty="0">
                <a:solidFill>
                  <a:schemeClr val="accent1">
                    <a:lumMod val="50000"/>
                  </a:schemeClr>
                </a:solidFill>
                <a:effectLst/>
                <a:latin typeface="Times New Roman" panose="02020603050405020304" pitchFamily="18" charset="0"/>
                <a:cs typeface="Times New Roman" panose="02020603050405020304" pitchFamily="18" charset="0"/>
              </a:rPr>
              <a:t>Its relative insensitivity to gap length is its advantage over other RNNs, hidden Markov models, and other sequence learning methods.</a:t>
            </a:r>
          </a:p>
          <a:p>
            <a:pPr marL="114300" indent="0">
              <a:buNone/>
            </a:pPr>
            <a:endParaRPr lang="en-US" dirty="0">
              <a:solidFill>
                <a:schemeClr val="accent1">
                  <a:lumMod val="50000"/>
                </a:schemeClr>
              </a:solidFill>
              <a:latin typeface="Times New Roman" panose="02020603050405020304" pitchFamily="18" charset="0"/>
              <a:cs typeface="Times New Roman" panose="02020603050405020304" pitchFamily="18" charset="0"/>
            </a:endParaRPr>
          </a:p>
          <a:p>
            <a:pPr marL="114300" indent="0">
              <a:buNone/>
            </a:pPr>
            <a:r>
              <a:rPr lang="en-US" sz="1800" b="0" i="0" dirty="0">
                <a:solidFill>
                  <a:schemeClr val="accent1">
                    <a:lumMod val="50000"/>
                  </a:schemeClr>
                </a:solidFill>
                <a:effectLst/>
                <a:latin typeface="Times New Roman" panose="02020603050405020304" pitchFamily="18" charset="0"/>
                <a:cs typeface="Times New Roman" panose="02020603050405020304" pitchFamily="18" charset="0"/>
              </a:rPr>
              <a:t>   LSTM has wide applications in classification, data processing, time series analysis tasks, speech recognition, machine translation, speech activity detection, robot control, video games, healthcare</a:t>
            </a:r>
            <a:endParaRPr lang="en-US" dirty="0">
              <a:solidFill>
                <a:schemeClr val="accent1">
                  <a:lumMod val="50000"/>
                </a:schemeClr>
              </a:solidFill>
            </a:endParaRPr>
          </a:p>
        </p:txBody>
      </p:sp>
    </p:spTree>
    <p:extLst>
      <p:ext uri="{BB962C8B-B14F-4D97-AF65-F5344CB8AC3E}">
        <p14:creationId xmlns:p14="http://schemas.microsoft.com/office/powerpoint/2010/main" val="2169016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ata base&#10;&#10;Description automatically generated">
            <a:extLst>
              <a:ext uri="{FF2B5EF4-FFF2-40B4-BE49-F238E27FC236}">
                <a16:creationId xmlns:a16="http://schemas.microsoft.com/office/drawing/2014/main" id="{D824669A-0FCD-26B9-D390-033728CF24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409" y="578626"/>
            <a:ext cx="7118373" cy="3986247"/>
          </a:xfrm>
          <a:prstGeom prst="rect">
            <a:avLst/>
          </a:prstGeom>
        </p:spPr>
      </p:pic>
    </p:spTree>
    <p:extLst>
      <p:ext uri="{BB962C8B-B14F-4D97-AF65-F5344CB8AC3E}">
        <p14:creationId xmlns:p14="http://schemas.microsoft.com/office/powerpoint/2010/main" val="2734996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B0A6B59B-F6F0-6F4B-CA11-D23D67F42F6C}"/>
              </a:ext>
            </a:extLst>
          </p:cNvPr>
          <p:cNvPicPr>
            <a:picLocks noChangeAspect="1"/>
          </p:cNvPicPr>
          <p:nvPr/>
        </p:nvPicPr>
        <p:blipFill>
          <a:blip r:embed="rId2"/>
          <a:stretch>
            <a:fillRect/>
          </a:stretch>
        </p:blipFill>
        <p:spPr>
          <a:xfrm>
            <a:off x="617531" y="1053885"/>
            <a:ext cx="7472584" cy="3626603"/>
          </a:xfrm>
          <a:prstGeom prst="rect">
            <a:avLst/>
          </a:prstGeom>
        </p:spPr>
      </p:pic>
      <p:sp>
        <p:nvSpPr>
          <p:cNvPr id="4" name="TextBox 3">
            <a:extLst>
              <a:ext uri="{FF2B5EF4-FFF2-40B4-BE49-F238E27FC236}">
                <a16:creationId xmlns:a16="http://schemas.microsoft.com/office/drawing/2014/main" id="{454B9BEE-8EDD-A98B-705B-B43D347E4E08}"/>
              </a:ext>
            </a:extLst>
          </p:cNvPr>
          <p:cNvSpPr txBox="1"/>
          <p:nvPr/>
        </p:nvSpPr>
        <p:spPr>
          <a:xfrm>
            <a:off x="617531" y="294467"/>
            <a:ext cx="4742482" cy="523220"/>
          </a:xfrm>
          <a:prstGeom prst="rect">
            <a:avLst/>
          </a:prstGeom>
          <a:noFill/>
        </p:spPr>
        <p:txBody>
          <a:bodyPr wrap="square" rtlCol="0">
            <a:spAutoFit/>
          </a:bodyPr>
          <a:lstStyle/>
          <a:p>
            <a:r>
              <a:rPr lang="en-US" sz="2800" dirty="0"/>
              <a:t>OUTPUT SCREENS</a:t>
            </a:r>
          </a:p>
        </p:txBody>
      </p:sp>
    </p:spTree>
    <p:extLst>
      <p:ext uri="{BB962C8B-B14F-4D97-AF65-F5344CB8AC3E}">
        <p14:creationId xmlns:p14="http://schemas.microsoft.com/office/powerpoint/2010/main" val="2591200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72950F4-3028-D8E0-4243-2B55198774C1}"/>
              </a:ext>
            </a:extLst>
          </p:cNvPr>
          <p:cNvPicPr>
            <a:picLocks noChangeAspect="1"/>
          </p:cNvPicPr>
          <p:nvPr/>
        </p:nvPicPr>
        <p:blipFill>
          <a:blip r:embed="rId2"/>
          <a:stretch>
            <a:fillRect/>
          </a:stretch>
        </p:blipFill>
        <p:spPr>
          <a:xfrm>
            <a:off x="617531" y="232475"/>
            <a:ext cx="7772400" cy="4664989"/>
          </a:xfrm>
          <a:prstGeom prst="rect">
            <a:avLst/>
          </a:prstGeom>
        </p:spPr>
      </p:pic>
    </p:spTree>
    <p:extLst>
      <p:ext uri="{BB962C8B-B14F-4D97-AF65-F5344CB8AC3E}">
        <p14:creationId xmlns:p14="http://schemas.microsoft.com/office/powerpoint/2010/main" val="1877395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F20A45B-A469-77BD-4F7F-253CA4A9AC2C}"/>
              </a:ext>
            </a:extLst>
          </p:cNvPr>
          <p:cNvPicPr>
            <a:picLocks noChangeAspect="1"/>
          </p:cNvPicPr>
          <p:nvPr/>
        </p:nvPicPr>
        <p:blipFill>
          <a:blip r:embed="rId2"/>
          <a:stretch>
            <a:fillRect/>
          </a:stretch>
        </p:blipFill>
        <p:spPr>
          <a:xfrm>
            <a:off x="617531" y="263471"/>
            <a:ext cx="7772400" cy="4618495"/>
          </a:xfrm>
          <a:prstGeom prst="rect">
            <a:avLst/>
          </a:prstGeom>
        </p:spPr>
      </p:pic>
    </p:spTree>
    <p:extLst>
      <p:ext uri="{BB962C8B-B14F-4D97-AF65-F5344CB8AC3E}">
        <p14:creationId xmlns:p14="http://schemas.microsoft.com/office/powerpoint/2010/main" val="2376508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 </a:t>
            </a:r>
            <a:endParaRPr/>
          </a:p>
        </p:txBody>
      </p:sp>
      <p:sp>
        <p:nvSpPr>
          <p:cNvPr id="133" name="Google Shape;133;p21"/>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We can see the Prediction, analysis and Visualization of Google stock Price </a:t>
            </a:r>
            <a:r>
              <a:rPr lang="en-GB" dirty="0" err="1"/>
              <a:t>hough</a:t>
            </a:r>
            <a:r>
              <a:rPr lang="en-GB" dirty="0"/>
              <a:t> applying Deep learning algorithms such as LSTM, DENSE, DROP OUT and SEQUENTIAL.</a:t>
            </a:r>
            <a:endParaRPr dirty="0"/>
          </a:p>
          <a:p>
            <a:pPr marL="0" lvl="0" indent="0" algn="l" rtl="0">
              <a:spcBef>
                <a:spcPts val="1200"/>
              </a:spcBef>
              <a:spcAft>
                <a:spcPts val="0"/>
              </a:spcAft>
              <a:buNone/>
            </a:pPr>
            <a:r>
              <a:rPr lang="en-GB" dirty="0"/>
              <a:t>Same way we can use any company Stock Dataset directly apply this algorithms it will give us the correct prediction.</a:t>
            </a:r>
            <a:endParaRPr dirty="0"/>
          </a:p>
          <a:p>
            <a:pPr marL="0" lvl="0" indent="0" algn="l" rtl="0">
              <a:spcBef>
                <a:spcPts val="1200"/>
              </a:spcBef>
              <a:spcAft>
                <a:spcPts val="1200"/>
              </a:spcAft>
              <a:buNone/>
            </a:pPr>
            <a:r>
              <a:rPr lang="en-GB" dirty="0"/>
              <a:t>This System is Successfully runs on any system even on Cloud platforms.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REFRENCES </a:t>
            </a:r>
            <a:endParaRPr/>
          </a:p>
        </p:txBody>
      </p:sp>
      <p:sp>
        <p:nvSpPr>
          <p:cNvPr id="139" name="Google Shape;139;p22"/>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u="sng">
                <a:solidFill>
                  <a:schemeClr val="hlink"/>
                </a:solidFill>
                <a:hlinkClick r:id="rId3"/>
              </a:rPr>
              <a:t>https://machinelearningmastery.com/start-here/#getstarted</a:t>
            </a:r>
            <a:endParaRPr/>
          </a:p>
          <a:p>
            <a:pPr marL="457200" lvl="0" indent="-342900" algn="l" rtl="0">
              <a:spcBef>
                <a:spcPts val="0"/>
              </a:spcBef>
              <a:spcAft>
                <a:spcPts val="0"/>
              </a:spcAft>
              <a:buSzPts val="1800"/>
              <a:buAutoNum type="arabicPeriod"/>
            </a:pPr>
            <a:r>
              <a:rPr lang="en-GB" u="sng">
                <a:solidFill>
                  <a:schemeClr val="hlink"/>
                </a:solidFill>
                <a:hlinkClick r:id="rId4"/>
              </a:rPr>
              <a:t>https://colah.github.io/posts/2015-08-Understanding-LSTMs/</a:t>
            </a:r>
            <a:endParaRPr/>
          </a:p>
          <a:p>
            <a:pPr marL="457200" lvl="0" indent="-342900" algn="l" rtl="0">
              <a:spcBef>
                <a:spcPts val="0"/>
              </a:spcBef>
              <a:spcAft>
                <a:spcPts val="0"/>
              </a:spcAft>
              <a:buSzPts val="1800"/>
              <a:buAutoNum type="arabicPeriod"/>
            </a:pPr>
            <a:r>
              <a:rPr lang="en-GB" u="sng">
                <a:solidFill>
                  <a:schemeClr val="hlink"/>
                </a:solidFill>
                <a:hlinkClick r:id="rId5"/>
              </a:rPr>
              <a:t>https://www.sas.com/en_us/insights/analytics/machine-learning.html</a:t>
            </a:r>
            <a:endParaRPr/>
          </a:p>
          <a:p>
            <a:pPr marL="457200" lvl="0" indent="-342900" algn="l" rtl="0">
              <a:spcBef>
                <a:spcPts val="0"/>
              </a:spcBef>
              <a:spcAft>
                <a:spcPts val="0"/>
              </a:spcAft>
              <a:buSzPts val="1800"/>
              <a:buAutoNum type="arabicPeriod"/>
            </a:pPr>
            <a:r>
              <a:rPr lang="en-GB" u="sng">
                <a:solidFill>
                  <a:schemeClr val="hlink"/>
                </a:solidFill>
                <a:hlinkClick r:id="rId6"/>
              </a:rPr>
              <a:t>https://groww.in/us-stocks/googl</a:t>
            </a:r>
            <a:endParaRPr/>
          </a:p>
          <a:p>
            <a:pPr marL="457200" lvl="0" indent="-342900" algn="l" rtl="0">
              <a:spcBef>
                <a:spcPts val="0"/>
              </a:spcBef>
              <a:spcAft>
                <a:spcPts val="0"/>
              </a:spcAft>
              <a:buSzPts val="1800"/>
              <a:buAutoNum type="arabicPeriod"/>
            </a:pPr>
            <a:r>
              <a:rPr lang="en-GB" u="sng">
                <a:solidFill>
                  <a:schemeClr val="hlink"/>
                </a:solidFill>
                <a:hlinkClick r:id="rId7"/>
              </a:rPr>
              <a:t>https://www.investopedia.com/terms/d/deep-learning.asp</a:t>
            </a:r>
            <a:r>
              <a:rPr lang="en-GB"/>
              <a:t> </a:t>
            </a:r>
            <a:endParaRPr/>
          </a:p>
          <a:p>
            <a:pPr marL="457200" lvl="0" indent="-342900" algn="l" rtl="0">
              <a:spcBef>
                <a:spcPts val="0"/>
              </a:spcBef>
              <a:spcAft>
                <a:spcPts val="0"/>
              </a:spcAft>
              <a:buSzPts val="1800"/>
              <a:buAutoNum type="arabicPeriod"/>
            </a:pPr>
            <a:r>
              <a:rPr lang="en-GB" u="sng">
                <a:solidFill>
                  <a:schemeClr val="hlink"/>
                </a:solidFill>
                <a:hlinkClick r:id="rId8"/>
              </a:rPr>
              <a:t>https://www.nasdaq.com/market-activity/stocks/goog</a:t>
            </a:r>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815</Words>
  <Application>Microsoft Macintosh PowerPoint</Application>
  <PresentationFormat>On-screen Show (16:9)</PresentationFormat>
  <Paragraphs>59</Paragraphs>
  <Slides>17</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Montserrat</vt:lpstr>
      <vt:lpstr>Roboto</vt:lpstr>
      <vt:lpstr>Arial</vt:lpstr>
      <vt:lpstr>Times New Roman</vt:lpstr>
      <vt:lpstr>Geometric</vt:lpstr>
      <vt:lpstr>STOCK PRICE PREDICTION </vt:lpstr>
      <vt:lpstr>CONTENT</vt:lpstr>
      <vt:lpstr>ABSTRACT</vt:lpstr>
      <vt:lpstr>MACHINE LEARNING</vt:lpstr>
      <vt:lpstr>DEEP LEARNING</vt:lpstr>
      <vt:lpstr>DEEP LEARNING NECESSITY   </vt:lpstr>
      <vt:lpstr>GOOGLE STOCK PRICE DATASET</vt:lpstr>
      <vt:lpstr>ALGORITHMS</vt:lpstr>
      <vt:lpstr>Recurrent Neural Networks (RNNs)  </vt:lpstr>
      <vt:lpstr>PowerPoint Presentation</vt:lpstr>
      <vt:lpstr>Long short-term memory (LSTM) </vt:lpstr>
      <vt:lpstr>PowerPoint Presentation</vt:lpstr>
      <vt:lpstr>PowerPoint Presentation</vt:lpstr>
      <vt:lpstr>PowerPoint Presentation</vt:lpstr>
      <vt:lpstr>PowerPoint Presentation</vt:lpstr>
      <vt:lpstr>CONCLUSION </vt:lpstr>
      <vt:lpstr>REFRENCES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Uma Sankar Khagga</cp:lastModifiedBy>
  <cp:revision>2</cp:revision>
  <dcterms:modified xsi:type="dcterms:W3CDTF">2025-04-30T14:27:52Z</dcterms:modified>
</cp:coreProperties>
</file>